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63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204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320F66-9EC5-46F6-913F-A4B7EEC953F1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E7C22B-C157-40A8-9988-450A3C805F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39451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3559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9235440" y="-1005840"/>
            <a:ext cx="3840480" cy="3840480"/>
          </a:xfrm>
          <a:prstGeom prst="ellipse">
            <a:avLst/>
          </a:prstGeom>
          <a:solidFill>
            <a:srgbClr val="1F335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0332720" y="-182880"/>
            <a:ext cx="2377440" cy="2377440"/>
          </a:xfrm>
          <a:prstGeom prst="ellipse">
            <a:avLst/>
          </a:prstGeom>
          <a:solidFill>
            <a:srgbClr val="F299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0" y="5989320"/>
            <a:ext cx="12191695" cy="54864"/>
          </a:xfrm>
          <a:prstGeom prst="rect">
            <a:avLst/>
          </a:prstGeom>
          <a:solidFill>
            <a:srgbClr val="F299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640080" y="1051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PS1 BUILDATHON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1508760"/>
            <a:ext cx="8686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/>
              <a:t>SITESENSE</a:t>
            </a:r>
          </a:p>
        </p:txBody>
      </p:sp>
      <p:sp>
        <p:nvSpPr>
          <p:cNvPr id="9" name="Text 7"/>
          <p:cNvSpPr txBox="1"/>
          <p:nvPr/>
        </p:nvSpPr>
        <p:spPr>
          <a:xfrm>
            <a:off x="640080" y="32004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safety and progress intelligence for construction sites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640080" y="4160520"/>
            <a:ext cx="1828800" cy="0"/>
          </a:xfrm>
          <a:prstGeom prst="line">
            <a:avLst/>
          </a:prstGeom>
          <a:noFill/>
          <a:ln w="31750">
            <a:solidFill>
              <a:srgbClr val="F299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640080" y="44348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dirty="0"/>
              <a:t>Team: </a:t>
            </a:r>
            <a:r>
              <a:rPr lang="en-US" dirty="0" err="1"/>
              <a:t>Codevyuha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846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/>
              <a:t>Problem Statement :</a:t>
            </a:r>
            <a:r>
              <a:rPr lang="en-IN" b="1" dirty="0"/>
              <a:t>Construction Site Intelligence Platform</a:t>
            </a:r>
            <a:endParaRPr lang="en-IN" sz="1400" b="1" dirty="0"/>
          </a:p>
          <a:p>
            <a:pPr marL="0" indent="0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3038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B91C1C"/>
                </a:solidFill>
                <a:latin typeface="Segoe UI"/>
              </a:defRPr>
            </a:pPr>
            <a:r>
              <a:rPr dirty="0"/>
              <a:t>🦺 SITESENSE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51760" y="73152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300" b="1">
                <a:solidFill>
                  <a:srgbClr val="B91C1C"/>
                </a:solidFill>
                <a:latin typeface="Segoe UI"/>
              </a:defRPr>
            </a:pPr>
            <a:r>
              <a:rPr dirty="0"/>
              <a:t>Proposed Solution : </a:t>
            </a:r>
            <a:r>
              <a:rPr dirty="0" err="1"/>
              <a:t>SiteSense</a:t>
            </a:r>
            <a:r>
              <a:rPr dirty="0"/>
              <a:t> Platform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822960"/>
            <a:ext cx="11460175" cy="228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14300" y="1005840"/>
            <a:ext cx="5646420" cy="5486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tlCol="0" anchor="ctr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rPr sz="1600" dirty="0"/>
              <a:t>Idea &amp; Approach of </a:t>
            </a:r>
            <a:r>
              <a:rPr sz="1600" dirty="0" err="1"/>
              <a:t>SiteSense</a:t>
            </a:r>
            <a:r>
              <a:rPr sz="1600" dirty="0"/>
              <a:t> Platform:</a:t>
            </a:r>
          </a:p>
          <a:p>
            <a:pPr>
              <a:spcBef>
                <a:spcPts val="600"/>
              </a:spcBef>
              <a:defRPr sz="1200">
                <a:solidFill>
                  <a:srgbClr val="475569"/>
                </a:solidFill>
              </a:defRPr>
            </a:pPr>
            <a:r>
              <a:rPr sz="1600" b="1" dirty="0" err="1"/>
              <a:t>SiteSense</a:t>
            </a:r>
            <a:r>
              <a:rPr sz="1600" dirty="0"/>
              <a:t> is an end-to-end Construction Site Intelligence platform combining real-time YOLOv8 Computer Vision with a Grounded GenAI Copilot to eliminate safety </a:t>
            </a:r>
            <a:r>
              <a:rPr sz="1600" dirty="0" err="1"/>
              <a:t>blindspots</a:t>
            </a:r>
            <a:r>
              <a:rPr sz="1600" dirty="0"/>
              <a:t> and paper logs.</a:t>
            </a:r>
          </a:p>
          <a:p>
            <a:br>
              <a:rPr sz="1600" dirty="0"/>
            </a:br>
            <a:r>
              <a:rPr sz="1600" dirty="0"/>
              <a:t>Phase 1: Computer Vision &amp; Field Pipeline</a:t>
            </a:r>
          </a:p>
          <a:p>
            <a:pPr>
              <a:spcBef>
                <a:spcPts val="200"/>
              </a:spcBef>
              <a:defRPr sz="1150">
                <a:solidFill>
                  <a:srgbClr val="0F172A"/>
                </a:solidFill>
              </a:defRPr>
            </a:pPr>
            <a:r>
              <a:rPr sz="1600" dirty="0"/>
              <a:t>• Data Ingestion: Workers upload site photos &amp; logs.</a:t>
            </a:r>
          </a:p>
          <a:p>
            <a:pPr>
              <a:spcBef>
                <a:spcPts val="200"/>
              </a:spcBef>
              <a:defRPr sz="1150">
                <a:solidFill>
                  <a:srgbClr val="0F172A"/>
                </a:solidFill>
              </a:defRPr>
            </a:pPr>
            <a:r>
              <a:rPr sz="1600" dirty="0"/>
              <a:t>• YOLOv8 Inference: Detects hardhats, vests &amp; violations.</a:t>
            </a:r>
          </a:p>
          <a:p>
            <a:pPr>
              <a:spcBef>
                <a:spcPts val="200"/>
              </a:spcBef>
              <a:defRPr sz="1150">
                <a:solidFill>
                  <a:srgbClr val="0F172A"/>
                </a:solidFill>
              </a:defRPr>
            </a:pPr>
            <a:r>
              <a:rPr sz="1600" dirty="0"/>
              <a:t>• Bounding Boxes: Calculates [</a:t>
            </a:r>
            <a:r>
              <a:rPr sz="1600" dirty="0" err="1"/>
              <a:t>x,y,w,h</a:t>
            </a:r>
            <a:r>
              <a:rPr sz="1600" dirty="0"/>
              <a:t>] coordinates &amp; scores.</a:t>
            </a:r>
          </a:p>
          <a:p>
            <a:pPr>
              <a:spcBef>
                <a:spcPts val="200"/>
              </a:spcBef>
              <a:defRPr sz="1150">
                <a:solidFill>
                  <a:srgbClr val="0F172A"/>
                </a:solidFill>
              </a:defRPr>
            </a:pPr>
            <a:r>
              <a:rPr sz="1600" dirty="0"/>
              <a:t>• Multi-Zone Storage: Links records to hierarchical zones.</a:t>
            </a:r>
          </a:p>
          <a:p>
            <a:br>
              <a:rPr sz="1600" dirty="0"/>
            </a:br>
            <a:r>
              <a:rPr sz="1600" dirty="0"/>
              <a:t>Phase 2: Grounded GenAI Copilot</a:t>
            </a:r>
          </a:p>
          <a:p>
            <a:pPr>
              <a:spcBef>
                <a:spcPts val="200"/>
              </a:spcBef>
              <a:defRPr sz="1150">
                <a:solidFill>
                  <a:srgbClr val="0F172A"/>
                </a:solidFill>
              </a:defRPr>
            </a:pPr>
            <a:r>
              <a:rPr sz="1600" dirty="0"/>
              <a:t>• Context Retrieval: Pulls relevant reports &amp; detections from DB.</a:t>
            </a:r>
          </a:p>
          <a:p>
            <a:pPr>
              <a:spcBef>
                <a:spcPts val="200"/>
              </a:spcBef>
              <a:defRPr sz="1150">
                <a:solidFill>
                  <a:srgbClr val="0F172A"/>
                </a:solidFill>
              </a:defRPr>
            </a:pPr>
            <a:r>
              <a:rPr sz="1600" dirty="0"/>
              <a:t>• Grounded LLM: Generates structured briefings with [Report #id].</a:t>
            </a:r>
          </a:p>
          <a:p>
            <a:pPr>
              <a:spcBef>
                <a:spcPts val="200"/>
              </a:spcBef>
              <a:defRPr sz="1150">
                <a:solidFill>
                  <a:srgbClr val="0F172A"/>
                </a:solidFill>
              </a:defRPr>
            </a:pPr>
            <a:r>
              <a:rPr sz="1600" dirty="0"/>
              <a:t>• Local Engine: 100% offline fallback for zero downtime.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60" y="1200512"/>
            <a:ext cx="1783080" cy="11887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rtlCol="0" anchor="ctr"/>
          <a:lstStyle/>
          <a:p>
            <a:pPr algn="ctr">
              <a:defRPr sz="1100" b="1">
                <a:solidFill>
                  <a:srgbClr val="B91C1C"/>
                </a:solidFill>
              </a:defRPr>
            </a:pPr>
            <a:r>
              <a:rPr sz="1400" dirty="0"/>
              <a:t>STEP 1</a:t>
            </a:r>
          </a:p>
          <a:p>
            <a:pPr algn="ctr">
              <a:defRPr sz="950" b="1">
                <a:solidFill>
                  <a:srgbClr val="0F172A"/>
                </a:solidFill>
              </a:defRPr>
            </a:pPr>
            <a:r>
              <a:rPr sz="1400" dirty="0"/>
              <a:t>WORKER UPLOADS PHOTO</a:t>
            </a:r>
            <a:br>
              <a:rPr sz="1400" dirty="0"/>
            </a:br>
            <a:r>
              <a:rPr sz="1400" dirty="0"/>
              <a:t>&amp; LOGS ZONE STATUS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1200512"/>
            <a:ext cx="1783080" cy="11887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rtlCol="0" anchor="ctr"/>
          <a:lstStyle/>
          <a:p>
            <a:pPr algn="ctr">
              <a:defRPr sz="1100" b="1">
                <a:solidFill>
                  <a:srgbClr val="B91C1C"/>
                </a:solidFill>
              </a:defRPr>
            </a:pPr>
            <a:r>
              <a:rPr sz="1400" dirty="0"/>
              <a:t>STEP 2</a:t>
            </a:r>
          </a:p>
          <a:p>
            <a:pPr algn="ctr">
              <a:defRPr sz="950" b="1">
                <a:solidFill>
                  <a:srgbClr val="0F172A"/>
                </a:solidFill>
              </a:defRPr>
            </a:pPr>
            <a:r>
              <a:rPr sz="1400" dirty="0"/>
              <a:t>YOLOv8 DETECTS PPE</a:t>
            </a:r>
            <a:br>
              <a:rPr sz="1400" dirty="0"/>
            </a:br>
            <a:r>
              <a:rPr sz="1400" dirty="0"/>
              <a:t>&amp; FLAGS INFRACTIONS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829800" y="1200512"/>
            <a:ext cx="1783080" cy="11887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rtlCol="0" anchor="ctr"/>
          <a:lstStyle/>
          <a:p>
            <a:pPr algn="ctr">
              <a:defRPr sz="1100" b="1">
                <a:solidFill>
                  <a:srgbClr val="B91C1C"/>
                </a:solidFill>
              </a:defRPr>
            </a:pPr>
            <a:r>
              <a:rPr sz="1400" dirty="0"/>
              <a:t>STEP 3</a:t>
            </a:r>
          </a:p>
          <a:p>
            <a:pPr algn="ctr">
              <a:defRPr sz="950" b="1">
                <a:solidFill>
                  <a:srgbClr val="0F172A"/>
                </a:solidFill>
              </a:defRPr>
            </a:pPr>
            <a:r>
              <a:rPr sz="1400" dirty="0"/>
              <a:t>GENAI COPILOT PROVIDES</a:t>
            </a:r>
            <a:br>
              <a:rPr sz="1400" dirty="0"/>
            </a:br>
            <a:r>
              <a:rPr sz="1400" dirty="0"/>
              <a:t>ANSWERS + CITATIONS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75020" y="2627938"/>
            <a:ext cx="5920740" cy="1965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tlCol="0" anchor="ctr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rPr sz="1600" dirty="0"/>
              <a:t>The Need: Bridging the Construction Intelligence Gap</a:t>
            </a:r>
          </a:p>
          <a:p>
            <a:pPr>
              <a:spcBef>
                <a:spcPts val="300"/>
              </a:spcBef>
              <a:defRPr sz="1150" b="1">
                <a:solidFill>
                  <a:srgbClr val="1E3A8A"/>
                </a:solidFill>
              </a:defRPr>
            </a:pPr>
            <a:r>
              <a:rPr sz="1600" dirty="0"/>
              <a:t>• Automated PPE Auditing: </a:t>
            </a:r>
            <a:r>
              <a:rPr sz="1600" b="0" dirty="0">
                <a:solidFill>
                  <a:srgbClr val="475569"/>
                </a:solidFill>
              </a:rPr>
              <a:t>Replaces hours of manual inspection walks with instant vision AI.</a:t>
            </a:r>
          </a:p>
          <a:p>
            <a:pPr>
              <a:spcBef>
                <a:spcPts val="300"/>
              </a:spcBef>
              <a:defRPr sz="1150" b="1">
                <a:solidFill>
                  <a:srgbClr val="1E3A8A"/>
                </a:solidFill>
              </a:defRPr>
            </a:pPr>
            <a:r>
              <a:rPr sz="1600" dirty="0"/>
              <a:t>• Hazard Trend Prevention: </a:t>
            </a:r>
            <a:r>
              <a:rPr sz="1600" b="0" dirty="0">
                <a:solidFill>
                  <a:srgbClr val="475569"/>
                </a:solidFill>
              </a:rPr>
              <a:t>Flags repeat missing hardhats/vests before accidents occur.</a:t>
            </a:r>
          </a:p>
          <a:p>
            <a:pPr>
              <a:spcBef>
                <a:spcPts val="300"/>
              </a:spcBef>
              <a:defRPr sz="1150" b="1">
                <a:solidFill>
                  <a:srgbClr val="1E3A8A"/>
                </a:solidFill>
              </a:defRPr>
            </a:pPr>
            <a:r>
              <a:rPr sz="1600" dirty="0"/>
              <a:t>• Zero-Hallucination Copilot: </a:t>
            </a:r>
            <a:r>
              <a:rPr sz="1600" b="0" dirty="0">
                <a:solidFill>
                  <a:srgbClr val="475569"/>
                </a:solidFill>
              </a:rPr>
              <a:t>Answers strictly grounded in active project database records</a:t>
            </a:r>
            <a:r>
              <a:rPr lang="en-US" sz="1600" b="0" dirty="0">
                <a:solidFill>
                  <a:srgbClr val="475569"/>
                </a:solidFill>
              </a:rPr>
              <a:t> </a:t>
            </a:r>
          </a:p>
          <a:p>
            <a:pPr>
              <a:spcBef>
                <a:spcPts val="300"/>
              </a:spcBef>
              <a:defRPr sz="1150" b="1">
                <a:solidFill>
                  <a:srgbClr val="1E3A8A"/>
                </a:solidFill>
              </a:defRPr>
            </a:pPr>
            <a:r>
              <a:rPr sz="1600" b="0" dirty="0">
                <a:solidFill>
                  <a:srgbClr val="475569"/>
                </a:solidFill>
              </a:rPr>
              <a:t>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5847" y="4845357"/>
            <a:ext cx="2697480" cy="6400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tlCol="0" anchor="ctr"/>
          <a:lstStyle/>
          <a:p>
            <a:pPr algn="ctr">
              <a:defRPr sz="1050" b="1">
                <a:solidFill>
                  <a:srgbClr val="B91C1C"/>
                </a:solidFill>
              </a:defRPr>
            </a:pPr>
            <a:r>
              <a:rPr sz="1600" dirty="0"/>
              <a:t>Real YOLOv8 Vision Engine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rPr sz="1600" dirty="0"/>
              <a:t>Live </a:t>
            </a:r>
            <a:r>
              <a:rPr sz="1600" dirty="0" err="1"/>
              <a:t>PyTorch</a:t>
            </a:r>
            <a:r>
              <a:rPr sz="1600" dirty="0"/>
              <a:t> object detection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35716" y="4845357"/>
            <a:ext cx="2697480" cy="6400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tlCol="0" anchor="ctr"/>
          <a:lstStyle/>
          <a:p>
            <a:pPr algn="ctr">
              <a:defRPr sz="1050" b="1">
                <a:solidFill>
                  <a:srgbClr val="B91C1C"/>
                </a:solidFill>
              </a:defRPr>
            </a:pPr>
            <a:r>
              <a:rPr sz="1600" dirty="0"/>
              <a:t>Interactive Citations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rPr sz="1600" dirty="0"/>
              <a:t>[Report #id] links to real logs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8886" y="5724143"/>
            <a:ext cx="2697480" cy="6400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tlCol="0" anchor="ctr"/>
          <a:lstStyle/>
          <a:p>
            <a:pPr algn="ctr">
              <a:defRPr sz="1050" b="1">
                <a:solidFill>
                  <a:srgbClr val="B91C1C"/>
                </a:solidFill>
              </a:defRPr>
            </a:pPr>
            <a:r>
              <a:rPr sz="1600" dirty="0"/>
              <a:t>100% Offline Fallback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rPr sz="1600" dirty="0"/>
              <a:t>Zero downtime if API is down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2323" y="5715000"/>
            <a:ext cx="2697480" cy="6400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tlCol="0" anchor="ctr"/>
          <a:lstStyle/>
          <a:p>
            <a:pPr algn="ctr">
              <a:defRPr sz="1050" b="1">
                <a:solidFill>
                  <a:srgbClr val="B91C1C"/>
                </a:solidFill>
              </a:defRPr>
            </a:pPr>
            <a:r>
              <a:rPr sz="1600" dirty="0"/>
              <a:t>Hierarchical Site Zones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rPr sz="1600" dirty="0"/>
              <a:t>Project ➔ Area tree analytics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4617720"/>
            <a:ext cx="5852160" cy="1874519"/>
          </a:xfrm>
          <a:prstGeom prst="roundRect">
            <a:avLst/>
          </a:prstGeom>
          <a:noFill/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tlCol="0" anchor="ctr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rPr dirty="0"/>
              <a:t>Uniqueness of the Solutio</a:t>
            </a:r>
            <a:r>
              <a:rPr lang="en-US" dirty="0"/>
              <a:t>n</a:t>
            </a:r>
            <a:endParaRPr dirty="0"/>
          </a:p>
        </p:txBody>
      </p:sp>
      <p:sp>
        <p:nvSpPr>
          <p:cNvPr id="8" name="Rounded Rectangle 7"/>
          <p:cNvSpPr/>
          <p:nvPr/>
        </p:nvSpPr>
        <p:spPr>
          <a:xfrm>
            <a:off x="5943600" y="918972"/>
            <a:ext cx="5852160" cy="1645920"/>
          </a:xfrm>
          <a:prstGeom prst="roundRect">
            <a:avLst/>
          </a:prstGeom>
          <a:noFill/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tlCol="0" anchor="ctr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endParaRPr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812A18B-D655-6C19-402F-4DFEBA898F22}"/>
              </a:ext>
            </a:extLst>
          </p:cNvPr>
          <p:cNvSpPr txBox="1"/>
          <p:nvPr/>
        </p:nvSpPr>
        <p:spPr>
          <a:xfrm>
            <a:off x="6533893" y="877346"/>
            <a:ext cx="56247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How Field Teams &amp; Managers Use the Platform:</a:t>
            </a:r>
          </a:p>
          <a:p>
            <a:endParaRPr lang="en-IN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F15065-DF1C-7805-C633-9FAA42F477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2D29F61-B349-2014-CD4F-872A93D72E14}"/>
              </a:ext>
            </a:extLst>
          </p:cNvPr>
          <p:cNvSpPr txBox="1"/>
          <p:nvPr/>
        </p:nvSpPr>
        <p:spPr>
          <a:xfrm>
            <a:off x="365760" y="109728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B91C1C"/>
                </a:solidFill>
                <a:latin typeface="Segoe UI"/>
              </a:defRPr>
            </a:pPr>
            <a:r>
              <a:t>🦺 SITESENSE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6E7BD9-BDDD-332F-FE83-F0A91F02E1AF}"/>
              </a:ext>
            </a:extLst>
          </p:cNvPr>
          <p:cNvSpPr/>
          <p:nvPr/>
        </p:nvSpPr>
        <p:spPr>
          <a:xfrm>
            <a:off x="365760" y="546428"/>
            <a:ext cx="11460175" cy="228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Image 0" descr="architecture.jpeg">
            <a:extLst>
              <a:ext uri="{FF2B5EF4-FFF2-40B4-BE49-F238E27FC236}">
                <a16:creationId xmlns:a16="http://schemas.microsoft.com/office/drawing/2014/main" id="{5E43FBF2-2E27-EA17-BA9E-649739E94A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4325"/>
          <a:stretch>
            <a:fillRect/>
          </a:stretch>
        </p:blipFill>
        <p:spPr>
          <a:xfrm>
            <a:off x="378471" y="918972"/>
            <a:ext cx="7237500" cy="357386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83323B9-D077-3A04-D7D3-A3637E4EAB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3709" y="1757732"/>
            <a:ext cx="4224926" cy="257644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12F117C-634E-7E21-EF27-1F4EF048B1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3709" y="4375322"/>
            <a:ext cx="4224926" cy="247666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742EC59-F963-4B69-46C4-2853512EE8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33839" y="4565984"/>
            <a:ext cx="3746633" cy="2286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87AADDD-EC46-7399-20B9-20AB8FAE10D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7865" y="4565985"/>
            <a:ext cx="3639356" cy="2286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6687618-A682-1AFC-A735-7A6B2BE48881}"/>
              </a:ext>
            </a:extLst>
          </p:cNvPr>
          <p:cNvSpPr txBox="1"/>
          <p:nvPr/>
        </p:nvSpPr>
        <p:spPr>
          <a:xfrm>
            <a:off x="7853709" y="1429381"/>
            <a:ext cx="32360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PROTOTYPE OVERVIEW:</a:t>
            </a:r>
            <a:endParaRPr lang="en-IN" sz="1400" b="1" dirty="0"/>
          </a:p>
        </p:txBody>
      </p:sp>
      <p:sp>
        <p:nvSpPr>
          <p:cNvPr id="20" name="Text 10">
            <a:extLst>
              <a:ext uri="{FF2B5EF4-FFF2-40B4-BE49-F238E27FC236}">
                <a16:creationId xmlns:a16="http://schemas.microsoft.com/office/drawing/2014/main" id="{B82D7D78-3D06-1664-7525-1F323813DD94}"/>
              </a:ext>
            </a:extLst>
          </p:cNvPr>
          <p:cNvSpPr txBox="1"/>
          <p:nvPr/>
        </p:nvSpPr>
        <p:spPr>
          <a:xfrm>
            <a:off x="7788985" y="844438"/>
            <a:ext cx="1437852" cy="198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</a:t>
            </a:r>
            <a:endParaRPr lang="en-US" sz="1100" dirty="0"/>
          </a:p>
        </p:txBody>
      </p:sp>
      <p:sp>
        <p:nvSpPr>
          <p:cNvPr id="22" name="Shape 11">
            <a:extLst>
              <a:ext uri="{FF2B5EF4-FFF2-40B4-BE49-F238E27FC236}">
                <a16:creationId xmlns:a16="http://schemas.microsoft.com/office/drawing/2014/main" id="{3EDCEBB2-A40F-B218-EC2D-C5DBA2223778}"/>
              </a:ext>
            </a:extLst>
          </p:cNvPr>
          <p:cNvSpPr/>
          <p:nvPr/>
        </p:nvSpPr>
        <p:spPr>
          <a:xfrm>
            <a:off x="8404066" y="786760"/>
            <a:ext cx="1011289" cy="277991"/>
          </a:xfrm>
          <a:prstGeom prst="roundRect">
            <a:avLst>
              <a:gd name="adj" fmla="val 50000"/>
            </a:avLst>
          </a:prstGeom>
          <a:solidFill>
            <a:srgbClr val="E9EDF2"/>
          </a:solidFill>
          <a:ln w="9525">
            <a:solidFill>
              <a:srgbClr val="DCE3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12">
            <a:extLst>
              <a:ext uri="{FF2B5EF4-FFF2-40B4-BE49-F238E27FC236}">
                <a16:creationId xmlns:a16="http://schemas.microsoft.com/office/drawing/2014/main" id="{9D19A290-9B00-CADB-4891-F05B2C7663E0}"/>
              </a:ext>
            </a:extLst>
          </p:cNvPr>
          <p:cNvSpPr txBox="1"/>
          <p:nvPr/>
        </p:nvSpPr>
        <p:spPr>
          <a:xfrm>
            <a:off x="8507911" y="786760"/>
            <a:ext cx="1011289" cy="277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</a:t>
            </a:r>
            <a:endParaRPr lang="en-US" sz="1150" dirty="0"/>
          </a:p>
        </p:txBody>
      </p:sp>
      <p:sp>
        <p:nvSpPr>
          <p:cNvPr id="26" name="Shape 13">
            <a:extLst>
              <a:ext uri="{FF2B5EF4-FFF2-40B4-BE49-F238E27FC236}">
                <a16:creationId xmlns:a16="http://schemas.microsoft.com/office/drawing/2014/main" id="{FC5A3E69-A439-9C4D-0138-709909D39EBD}"/>
              </a:ext>
            </a:extLst>
          </p:cNvPr>
          <p:cNvSpPr/>
          <p:nvPr/>
        </p:nvSpPr>
        <p:spPr>
          <a:xfrm>
            <a:off x="9539969" y="785489"/>
            <a:ext cx="1011289" cy="277991"/>
          </a:xfrm>
          <a:prstGeom prst="roundRect">
            <a:avLst>
              <a:gd name="adj" fmla="val 50000"/>
            </a:avLst>
          </a:prstGeom>
          <a:solidFill>
            <a:srgbClr val="E9EDF2"/>
          </a:solidFill>
          <a:ln w="9525">
            <a:solidFill>
              <a:srgbClr val="DCE3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14">
            <a:extLst>
              <a:ext uri="{FF2B5EF4-FFF2-40B4-BE49-F238E27FC236}">
                <a16:creationId xmlns:a16="http://schemas.microsoft.com/office/drawing/2014/main" id="{2F8B1375-4224-0E2E-251E-958782E317DF}"/>
              </a:ext>
            </a:extLst>
          </p:cNvPr>
          <p:cNvSpPr txBox="1"/>
          <p:nvPr/>
        </p:nvSpPr>
        <p:spPr>
          <a:xfrm>
            <a:off x="9710914" y="794866"/>
            <a:ext cx="1011289" cy="277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150" dirty="0"/>
          </a:p>
        </p:txBody>
      </p:sp>
      <p:sp>
        <p:nvSpPr>
          <p:cNvPr id="30" name="Shape 15">
            <a:extLst>
              <a:ext uri="{FF2B5EF4-FFF2-40B4-BE49-F238E27FC236}">
                <a16:creationId xmlns:a16="http://schemas.microsoft.com/office/drawing/2014/main" id="{4E653116-FEE8-7856-2A55-A4F5D214A47E}"/>
              </a:ext>
            </a:extLst>
          </p:cNvPr>
          <p:cNvSpPr/>
          <p:nvPr/>
        </p:nvSpPr>
        <p:spPr>
          <a:xfrm>
            <a:off x="10751430" y="774868"/>
            <a:ext cx="1313238" cy="277991"/>
          </a:xfrm>
          <a:prstGeom prst="roundRect">
            <a:avLst>
              <a:gd name="adj" fmla="val 50000"/>
            </a:avLst>
          </a:prstGeom>
          <a:solidFill>
            <a:srgbClr val="E9EDF2"/>
          </a:solidFill>
          <a:ln w="9525">
            <a:solidFill>
              <a:srgbClr val="DCE3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16">
            <a:extLst>
              <a:ext uri="{FF2B5EF4-FFF2-40B4-BE49-F238E27FC236}">
                <a16:creationId xmlns:a16="http://schemas.microsoft.com/office/drawing/2014/main" id="{5D411171-BEE8-6C4B-ECB2-DAC98D3BC6DC}"/>
              </a:ext>
            </a:extLst>
          </p:cNvPr>
          <p:cNvSpPr txBox="1"/>
          <p:nvPr/>
        </p:nvSpPr>
        <p:spPr>
          <a:xfrm>
            <a:off x="10930530" y="761044"/>
            <a:ext cx="1313238" cy="277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150" dirty="0"/>
          </a:p>
        </p:txBody>
      </p:sp>
      <p:sp>
        <p:nvSpPr>
          <p:cNvPr id="34" name="Shape 17">
            <a:extLst>
              <a:ext uri="{FF2B5EF4-FFF2-40B4-BE49-F238E27FC236}">
                <a16:creationId xmlns:a16="http://schemas.microsoft.com/office/drawing/2014/main" id="{68A7B1A0-9A21-9C15-739F-A9294BB9A82B}"/>
              </a:ext>
            </a:extLst>
          </p:cNvPr>
          <p:cNvSpPr/>
          <p:nvPr/>
        </p:nvSpPr>
        <p:spPr>
          <a:xfrm>
            <a:off x="8043562" y="1161195"/>
            <a:ext cx="910640" cy="277991"/>
          </a:xfrm>
          <a:prstGeom prst="roundRect">
            <a:avLst>
              <a:gd name="adj" fmla="val 50000"/>
            </a:avLst>
          </a:prstGeom>
          <a:solidFill>
            <a:srgbClr val="E9EDF2"/>
          </a:solidFill>
          <a:ln w="9525">
            <a:solidFill>
              <a:srgbClr val="DCE3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18">
            <a:extLst>
              <a:ext uri="{FF2B5EF4-FFF2-40B4-BE49-F238E27FC236}">
                <a16:creationId xmlns:a16="http://schemas.microsoft.com/office/drawing/2014/main" id="{BB7D1EEB-166E-ED20-F8E5-25AE95206A96}"/>
              </a:ext>
            </a:extLst>
          </p:cNvPr>
          <p:cNvSpPr txBox="1"/>
          <p:nvPr/>
        </p:nvSpPr>
        <p:spPr>
          <a:xfrm>
            <a:off x="8222663" y="1151390"/>
            <a:ext cx="910640" cy="277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</a:t>
            </a:r>
            <a:endParaRPr lang="en-US" sz="1150" dirty="0"/>
          </a:p>
        </p:txBody>
      </p:sp>
      <p:sp>
        <p:nvSpPr>
          <p:cNvPr id="38" name="Shape 19">
            <a:extLst>
              <a:ext uri="{FF2B5EF4-FFF2-40B4-BE49-F238E27FC236}">
                <a16:creationId xmlns:a16="http://schemas.microsoft.com/office/drawing/2014/main" id="{4422A5DA-1DCB-7EB2-4E89-9B577393D3EE}"/>
              </a:ext>
            </a:extLst>
          </p:cNvPr>
          <p:cNvSpPr/>
          <p:nvPr/>
        </p:nvSpPr>
        <p:spPr>
          <a:xfrm>
            <a:off x="9055926" y="1171775"/>
            <a:ext cx="1844690" cy="277991"/>
          </a:xfrm>
          <a:prstGeom prst="roundRect">
            <a:avLst>
              <a:gd name="adj" fmla="val 50000"/>
            </a:avLst>
          </a:prstGeom>
          <a:solidFill>
            <a:srgbClr val="E9EDF2"/>
          </a:solidFill>
          <a:ln w="9525">
            <a:solidFill>
              <a:srgbClr val="DCE3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20">
            <a:extLst>
              <a:ext uri="{FF2B5EF4-FFF2-40B4-BE49-F238E27FC236}">
                <a16:creationId xmlns:a16="http://schemas.microsoft.com/office/drawing/2014/main" id="{D2E79FEC-26D3-ABB3-B79A-35E22DE21C6A}"/>
              </a:ext>
            </a:extLst>
          </p:cNvPr>
          <p:cNvSpPr txBox="1"/>
          <p:nvPr/>
        </p:nvSpPr>
        <p:spPr>
          <a:xfrm>
            <a:off x="9125604" y="1159556"/>
            <a:ext cx="2113829" cy="277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Anthropic/OpenAI API</a:t>
            </a:r>
            <a:endParaRPr lang="en-US" sz="1150" dirty="0"/>
          </a:p>
        </p:txBody>
      </p:sp>
      <p:sp>
        <p:nvSpPr>
          <p:cNvPr id="42" name="Shape 21">
            <a:extLst>
              <a:ext uri="{FF2B5EF4-FFF2-40B4-BE49-F238E27FC236}">
                <a16:creationId xmlns:a16="http://schemas.microsoft.com/office/drawing/2014/main" id="{6D357BE3-4B44-4D5E-C2BB-653A39BC7ED8}"/>
              </a:ext>
            </a:extLst>
          </p:cNvPr>
          <p:cNvSpPr/>
          <p:nvPr/>
        </p:nvSpPr>
        <p:spPr>
          <a:xfrm>
            <a:off x="10980327" y="1202163"/>
            <a:ext cx="910640" cy="277991"/>
          </a:xfrm>
          <a:prstGeom prst="roundRect">
            <a:avLst>
              <a:gd name="adj" fmla="val 50000"/>
            </a:avLst>
          </a:prstGeom>
          <a:solidFill>
            <a:srgbClr val="E9EDF2"/>
          </a:solidFill>
          <a:ln w="9525">
            <a:solidFill>
              <a:srgbClr val="DCE3EA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44" name="Text 22">
            <a:extLst>
              <a:ext uri="{FF2B5EF4-FFF2-40B4-BE49-F238E27FC236}">
                <a16:creationId xmlns:a16="http://schemas.microsoft.com/office/drawing/2014/main" id="{9F9AC904-A549-06F2-69EE-C8E3024CDC56}"/>
              </a:ext>
            </a:extLst>
          </p:cNvPr>
          <p:cNvSpPr txBox="1"/>
          <p:nvPr/>
        </p:nvSpPr>
        <p:spPr>
          <a:xfrm>
            <a:off x="11130025" y="1193997"/>
            <a:ext cx="910640" cy="277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150" dirty="0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0EDF08AE-F714-27BF-9718-6CA73A0A8C83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28307"/>
          <a:stretch>
            <a:fillRect/>
          </a:stretch>
        </p:blipFill>
        <p:spPr>
          <a:xfrm>
            <a:off x="8487142" y="841581"/>
            <a:ext cx="274158" cy="165808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507F72AE-807B-5132-9D4F-EE8830831980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b="25755"/>
          <a:stretch>
            <a:fillRect/>
          </a:stretch>
        </p:blipFill>
        <p:spPr>
          <a:xfrm>
            <a:off x="9680575" y="827508"/>
            <a:ext cx="268368" cy="168849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F41A2187-20D3-36AF-70BE-1F7A466024C5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b="26249"/>
          <a:stretch>
            <a:fillRect/>
          </a:stretch>
        </p:blipFill>
        <p:spPr>
          <a:xfrm>
            <a:off x="10896111" y="815616"/>
            <a:ext cx="276527" cy="194064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7AB83E0D-422C-2151-225C-79DD5E3A5DC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31623" y="1201943"/>
            <a:ext cx="208986" cy="194064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1CFF7604-4893-E1B8-8B44-C4B957249608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t="-14595" b="39574"/>
          <a:stretch>
            <a:fillRect/>
          </a:stretch>
        </p:blipFill>
        <p:spPr>
          <a:xfrm>
            <a:off x="9189541" y="1200261"/>
            <a:ext cx="232977" cy="181463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C5D8107D-11B8-1403-1871-4C1B51C92B97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b="29315"/>
          <a:stretch>
            <a:fillRect/>
          </a:stretch>
        </p:blipFill>
        <p:spPr>
          <a:xfrm>
            <a:off x="11079002" y="1251390"/>
            <a:ext cx="231386" cy="144450"/>
          </a:xfrm>
          <a:prstGeom prst="rect">
            <a:avLst/>
          </a:prstGeom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3FEC34EC-65CF-6FDD-45FF-F4DAC07C3CD5}"/>
              </a:ext>
            </a:extLst>
          </p:cNvPr>
          <p:cNvSpPr txBox="1"/>
          <p:nvPr/>
        </p:nvSpPr>
        <p:spPr>
          <a:xfrm>
            <a:off x="2651760" y="73152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300" b="1">
                <a:solidFill>
                  <a:srgbClr val="B91C1C"/>
                </a:solidFill>
                <a:latin typeface="Segoe UI"/>
              </a:defRPr>
            </a:pPr>
            <a:r>
              <a:rPr dirty="0"/>
              <a:t>Technical Approach &amp; System Architecture</a:t>
            </a:r>
          </a:p>
        </p:txBody>
      </p:sp>
    </p:spTree>
    <p:extLst>
      <p:ext uri="{BB962C8B-B14F-4D97-AF65-F5344CB8AC3E}">
        <p14:creationId xmlns:p14="http://schemas.microsoft.com/office/powerpoint/2010/main" val="11384559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B91C1C"/>
                </a:solidFill>
                <a:latin typeface="Segoe UI"/>
              </a:defRPr>
            </a:pPr>
            <a:r>
              <a:t>🦺 SITESENSE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51760" y="73152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300" b="1">
                <a:solidFill>
                  <a:srgbClr val="B91C1C"/>
                </a:solidFill>
                <a:latin typeface="Segoe UI"/>
              </a:defRPr>
            </a:pPr>
            <a:r>
              <a:t>Core Technical Implementation &amp; Feasibility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822960"/>
            <a:ext cx="11460175" cy="228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65760" y="1005840"/>
            <a:ext cx="5486400" cy="2834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rPr sz="1600" dirty="0"/>
              <a:t>Feasibility and Viability:</a:t>
            </a:r>
          </a:p>
          <a:p>
            <a:pPr>
              <a:spcBef>
                <a:spcPts val="400"/>
              </a:spcBef>
              <a:defRPr sz="1150" b="1">
                <a:solidFill>
                  <a:srgbClr val="B91C1C"/>
                </a:solidFill>
              </a:defRPr>
            </a:pPr>
            <a:r>
              <a:rPr sz="1600" dirty="0"/>
              <a:t>• Technical Feasibility: </a:t>
            </a:r>
            <a:r>
              <a:rPr sz="1600" b="0" dirty="0" err="1">
                <a:solidFill>
                  <a:srgbClr val="0F172A"/>
                </a:solidFill>
              </a:rPr>
              <a:t>FastAPI</a:t>
            </a:r>
            <a:r>
              <a:rPr sz="1600" b="0" dirty="0">
                <a:solidFill>
                  <a:srgbClr val="0F172A"/>
                </a:solidFill>
              </a:rPr>
              <a:t> async runtime with sub-100ms YOLOv8 inference and </a:t>
            </a:r>
            <a:r>
              <a:rPr sz="1600" b="0" dirty="0" err="1">
                <a:solidFill>
                  <a:srgbClr val="0F172A"/>
                </a:solidFill>
              </a:rPr>
              <a:t>SQLAlchemy</a:t>
            </a:r>
            <a:r>
              <a:rPr sz="1600" b="0" dirty="0">
                <a:solidFill>
                  <a:srgbClr val="0F172A"/>
                </a:solidFill>
              </a:rPr>
              <a:t> </a:t>
            </a:r>
            <a:r>
              <a:rPr sz="1600" b="0" dirty="0" err="1">
                <a:solidFill>
                  <a:srgbClr val="0F172A"/>
                </a:solidFill>
              </a:rPr>
              <a:t>selectinload</a:t>
            </a:r>
            <a:r>
              <a:rPr sz="1600" b="0" dirty="0">
                <a:solidFill>
                  <a:srgbClr val="0F172A"/>
                </a:solidFill>
              </a:rPr>
              <a:t> eager-loading eliminating N+1 latency.</a:t>
            </a:r>
          </a:p>
          <a:p>
            <a:pPr>
              <a:spcBef>
                <a:spcPts val="400"/>
              </a:spcBef>
              <a:defRPr sz="1150" b="1">
                <a:solidFill>
                  <a:srgbClr val="B91C1C"/>
                </a:solidFill>
              </a:defRPr>
            </a:pPr>
            <a:r>
              <a:rPr sz="1600" dirty="0"/>
              <a:t>• Strategic Viability: </a:t>
            </a:r>
            <a:r>
              <a:rPr sz="1600" b="0" dirty="0">
                <a:solidFill>
                  <a:srgbClr val="0F172A"/>
                </a:solidFill>
              </a:rPr>
              <a:t>Empowers supervisors, safety officers, and contractors with automated compliance logs &amp; auditable citations.</a:t>
            </a:r>
          </a:p>
          <a:p>
            <a:pPr>
              <a:spcBef>
                <a:spcPts val="400"/>
              </a:spcBef>
              <a:defRPr sz="1150" b="1">
                <a:solidFill>
                  <a:srgbClr val="B91C1C"/>
                </a:solidFill>
              </a:defRPr>
            </a:pPr>
            <a:r>
              <a:rPr sz="1600" dirty="0"/>
              <a:t>• Economic Viability: </a:t>
            </a:r>
            <a:r>
              <a:rPr sz="1600" b="0" dirty="0">
                <a:solidFill>
                  <a:srgbClr val="0F172A"/>
                </a:solidFill>
              </a:rPr>
              <a:t>Reduces manual safety walk-through costs by 80%, prevents OSHA fines, and mitigates fatal accident risks.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3931920"/>
            <a:ext cx="5486400" cy="2560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rPr sz="1600" dirty="0"/>
              <a:t>Compliance Standards &amp; Engineering Practices:</a:t>
            </a:r>
          </a:p>
          <a:p>
            <a:pPr>
              <a:spcBef>
                <a:spcPts val="400"/>
              </a:spcBef>
              <a:defRPr sz="1100" b="1">
                <a:solidFill>
                  <a:srgbClr val="1E3A8A"/>
                </a:solidFill>
              </a:defRPr>
            </a:pPr>
            <a:r>
              <a:rPr sz="1600" dirty="0"/>
              <a:t>• OSHA PPE Compliance: </a:t>
            </a:r>
            <a:r>
              <a:rPr sz="1600" b="0" dirty="0">
                <a:solidFill>
                  <a:srgbClr val="475569"/>
                </a:solidFill>
              </a:rPr>
              <a:t>Enforces 29 CFR 1926.100 (Head Protection) &amp; 1926.201 (High-Vis Safety Vests).</a:t>
            </a:r>
          </a:p>
          <a:p>
            <a:pPr>
              <a:spcBef>
                <a:spcPts val="400"/>
              </a:spcBef>
              <a:defRPr sz="1100" b="1">
                <a:solidFill>
                  <a:srgbClr val="1E3A8A"/>
                </a:solidFill>
              </a:defRPr>
            </a:pPr>
            <a:r>
              <a:rPr sz="1600" dirty="0"/>
              <a:t>• W3C &amp; Security Standards: </a:t>
            </a:r>
            <a:r>
              <a:rPr sz="1600" b="0" dirty="0">
                <a:solidFill>
                  <a:srgbClr val="475569"/>
                </a:solidFill>
              </a:rPr>
              <a:t>OAuth2 Bearer JWT auth, </a:t>
            </a:r>
            <a:r>
              <a:rPr sz="1600" b="0" dirty="0" err="1">
                <a:solidFill>
                  <a:srgbClr val="475569"/>
                </a:solidFill>
              </a:rPr>
              <a:t>Bcrypt</a:t>
            </a:r>
            <a:r>
              <a:rPr sz="1600" b="0" dirty="0">
                <a:solidFill>
                  <a:srgbClr val="475569"/>
                </a:solidFill>
              </a:rPr>
              <a:t> hashing, and explicit CORS origin reflection.</a:t>
            </a:r>
          </a:p>
          <a:p>
            <a:pPr>
              <a:spcBef>
                <a:spcPts val="400"/>
              </a:spcBef>
              <a:defRPr sz="1100" b="1">
                <a:solidFill>
                  <a:srgbClr val="1E3A8A"/>
                </a:solidFill>
              </a:defRPr>
            </a:pPr>
            <a:r>
              <a:rPr sz="1600" dirty="0"/>
              <a:t>• Data Auditability: </a:t>
            </a:r>
            <a:r>
              <a:rPr sz="1600" b="0" dirty="0">
                <a:solidFill>
                  <a:srgbClr val="475569"/>
                </a:solidFill>
              </a:rPr>
              <a:t>Every AI detection, supervisor note, and query citation maintains immutable timestamped logs.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005840"/>
            <a:ext cx="5760720" cy="27157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rPr sz="1600" dirty="0"/>
              <a:t>The Grounded RAG Query Scoring Process:</a:t>
            </a:r>
          </a:p>
          <a:p>
            <a:pPr>
              <a:spcBef>
                <a:spcPts val="300"/>
              </a:spcBef>
              <a:defRPr sz="1100" b="1">
                <a:solidFill>
                  <a:srgbClr val="B91C1C"/>
                </a:solidFill>
              </a:defRPr>
            </a:pPr>
            <a:r>
              <a:rPr sz="1600" dirty="0"/>
              <a:t>• 1. Dynamic Token Extraction: </a:t>
            </a:r>
            <a:r>
              <a:rPr sz="1600" b="0" dirty="0">
                <a:solidFill>
                  <a:srgbClr val="0F172A"/>
                </a:solidFill>
              </a:rPr>
              <a:t>Extracts key search tokens from user query, stripping </a:t>
            </a:r>
            <a:r>
              <a:rPr sz="1600" b="0" dirty="0" err="1">
                <a:solidFill>
                  <a:srgbClr val="0F172A"/>
                </a:solidFill>
              </a:rPr>
              <a:t>stopwords</a:t>
            </a:r>
            <a:r>
              <a:rPr sz="1600" b="0" dirty="0">
                <a:solidFill>
                  <a:srgbClr val="0F172A"/>
                </a:solidFill>
              </a:rPr>
              <a:t>.</a:t>
            </a:r>
          </a:p>
          <a:p>
            <a:pPr>
              <a:spcBef>
                <a:spcPts val="300"/>
              </a:spcBef>
              <a:defRPr sz="1100" b="1">
                <a:solidFill>
                  <a:srgbClr val="B91C1C"/>
                </a:solidFill>
              </a:defRPr>
            </a:pPr>
            <a:r>
              <a:rPr sz="1600" dirty="0"/>
              <a:t>• 2. Multi-Field Scoring: </a:t>
            </a:r>
            <a:r>
              <a:rPr sz="1600" b="0" dirty="0">
                <a:solidFill>
                  <a:srgbClr val="0F172A"/>
                </a:solidFill>
              </a:rPr>
              <a:t>Matches tokens against report text (+3), site name (+4), author name (+4), and detection class (+3).</a:t>
            </a:r>
          </a:p>
          <a:p>
            <a:pPr>
              <a:spcBef>
                <a:spcPts val="300"/>
              </a:spcBef>
              <a:defRPr sz="1100" b="1">
                <a:solidFill>
                  <a:srgbClr val="B91C1C"/>
                </a:solidFill>
              </a:defRPr>
            </a:pPr>
            <a:r>
              <a:rPr sz="1600" dirty="0"/>
              <a:t>• 3. Context Injection: </a:t>
            </a:r>
            <a:r>
              <a:rPr sz="1600" b="0" dirty="0">
                <a:solidFill>
                  <a:srgbClr val="0F172A"/>
                </a:solidFill>
              </a:rPr>
              <a:t>Builds strict grounding payload containing report IDs, dates, text, and detection confidence.</a:t>
            </a:r>
          </a:p>
          <a:p>
            <a:pPr>
              <a:spcBef>
                <a:spcPts val="300"/>
              </a:spcBef>
              <a:defRPr sz="1100" b="1">
                <a:solidFill>
                  <a:srgbClr val="B91C1C"/>
                </a:solidFill>
              </a:defRPr>
            </a:pPr>
            <a:r>
              <a:rPr sz="1600" dirty="0"/>
              <a:t>• 4. Citation Formatting: </a:t>
            </a:r>
            <a:r>
              <a:rPr sz="1600" b="0" dirty="0">
                <a:solidFill>
                  <a:srgbClr val="0F172A"/>
                </a:solidFill>
              </a:rPr>
              <a:t>Mandates citation of source IDs formatted as [Report #&lt;id&gt;].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3840480"/>
            <a:ext cx="5760720" cy="2651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rPr sz="1600" dirty="0"/>
              <a:t>Potential Challenges &amp; Mitigation Strategies:</a:t>
            </a:r>
          </a:p>
          <a:p>
            <a:pPr>
              <a:spcBef>
                <a:spcPts val="300"/>
              </a:spcBef>
              <a:defRPr sz="1100" b="1">
                <a:solidFill>
                  <a:srgbClr val="1E3A8A"/>
                </a:solidFill>
              </a:defRPr>
            </a:pPr>
            <a:r>
              <a:rPr sz="1600" dirty="0"/>
              <a:t>• Challenge: Low Connectivity in Basements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rPr sz="1600" dirty="0"/>
              <a:t>   Mitigation: Client token caching + local deterministic fallback synthesis engine.</a:t>
            </a:r>
          </a:p>
          <a:p>
            <a:pPr>
              <a:spcBef>
                <a:spcPts val="300"/>
              </a:spcBef>
              <a:defRPr sz="1100" b="1">
                <a:solidFill>
                  <a:srgbClr val="1E3A8A"/>
                </a:solidFill>
              </a:defRPr>
            </a:pPr>
            <a:r>
              <a:rPr sz="1600" dirty="0"/>
              <a:t>• Challenge: LLM Hallucinations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rPr sz="1600" dirty="0"/>
              <a:t>   Mitigation: RAG architecture strictly bounds prompts to live DB records with mandatory [Report #id] citations.</a:t>
            </a:r>
          </a:p>
          <a:p>
            <a:pPr>
              <a:spcBef>
                <a:spcPts val="300"/>
              </a:spcBef>
              <a:defRPr sz="1100" b="1">
                <a:solidFill>
                  <a:srgbClr val="1E3A8A"/>
                </a:solidFill>
              </a:defRPr>
            </a:pPr>
            <a:r>
              <a:rPr sz="1600" dirty="0"/>
              <a:t>• Challenge: Worker Visual Occlusions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rPr sz="1600" dirty="0"/>
              <a:t>   Mitigation: High-resolution YOLOv8 detection with non-maximum suppression (NMS) and confidence thresholds.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B91C1C"/>
                </a:solidFill>
                <a:latin typeface="Segoe UI"/>
              </a:defRPr>
            </a:pPr>
            <a:r>
              <a:t>🦺 SITESENSE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51760" y="73152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300" b="1">
                <a:solidFill>
                  <a:srgbClr val="B91C1C"/>
                </a:solidFill>
                <a:latin typeface="Segoe UI"/>
              </a:defRPr>
            </a:pPr>
            <a:r>
              <a:t>AI/ML and GenAI Approach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822960"/>
            <a:ext cx="11460175" cy="228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65760" y="1005840"/>
            <a:ext cx="5486400" cy="5486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tlCol="0" anchor="ctr"/>
          <a:lstStyle/>
          <a:p>
            <a:pPr algn="ctr">
              <a:defRPr sz="1500" b="1">
                <a:solidFill>
                  <a:srgbClr val="B91C1C"/>
                </a:solidFill>
              </a:defRPr>
            </a:pPr>
            <a:r>
              <a:rPr sz="1600" dirty="0"/>
              <a:t>👁️ YOLOv8 Computer Vision Pipeline:</a:t>
            </a:r>
          </a:p>
          <a:p>
            <a:r>
              <a:rPr sz="1600" dirty="0"/>
              <a:t> Architecture &amp; Weights:</a:t>
            </a:r>
          </a:p>
          <a:p>
            <a:pPr marL="285750" indent="-285750">
              <a:buFont typeface="Arial" panose="020B0604020202020204" pitchFamily="34" charset="0"/>
              <a:buChar char="•"/>
              <a:defRPr sz="1100">
                <a:solidFill>
                  <a:srgbClr val="0F172A"/>
                </a:solidFill>
              </a:defRPr>
            </a:pPr>
            <a:r>
              <a:rPr sz="1600" dirty="0"/>
              <a:t>Fine-tuned YOLOv8 deep neural network trained specifically on construction safety datasets.</a:t>
            </a:r>
          </a:p>
          <a:p>
            <a:r>
              <a:rPr sz="1600" dirty="0"/>
              <a:t>• Multi-Class PPE Detection:</a:t>
            </a:r>
          </a:p>
          <a:p>
            <a:pPr marL="285750" indent="-285750">
              <a:buFont typeface="Arial" panose="020B0604020202020204" pitchFamily="34" charset="0"/>
              <a:buChar char="•"/>
              <a:defRPr sz="1100">
                <a:solidFill>
                  <a:srgbClr val="0F172A"/>
                </a:solidFill>
              </a:defRPr>
            </a:pPr>
            <a:r>
              <a:rPr sz="1600" dirty="0"/>
              <a:t>Simultaneously classifies 4 distinct object categories: hardhat, vest, </a:t>
            </a:r>
            <a:r>
              <a:rPr sz="1600" dirty="0" err="1"/>
              <a:t>no_hardhat</a:t>
            </a:r>
            <a:r>
              <a:rPr sz="1600" dirty="0"/>
              <a:t>, and </a:t>
            </a:r>
            <a:r>
              <a:rPr sz="1600" dirty="0" err="1"/>
              <a:t>no_vest</a:t>
            </a:r>
            <a:r>
              <a:rPr sz="1600" dirty="0"/>
              <a:t>.</a:t>
            </a:r>
          </a:p>
          <a:p>
            <a:r>
              <a:rPr sz="1600" dirty="0"/>
              <a:t> Bounding Box Extraction:</a:t>
            </a:r>
          </a:p>
          <a:p>
            <a:pPr marL="285750" indent="-285750">
              <a:buFont typeface="Arial" panose="020B0604020202020204" pitchFamily="34" charset="0"/>
              <a:buChar char="•"/>
              <a:defRPr sz="1100">
                <a:solidFill>
                  <a:srgbClr val="0F172A"/>
                </a:solidFill>
              </a:defRPr>
            </a:pPr>
            <a:r>
              <a:rPr sz="1600" dirty="0"/>
              <a:t>Extracts pixel-level normalized coordinates (</a:t>
            </a:r>
            <a:r>
              <a:rPr sz="1600" dirty="0" err="1"/>
              <a:t>bbox_x</a:t>
            </a:r>
            <a:r>
              <a:rPr sz="1600" dirty="0"/>
              <a:t>, </a:t>
            </a:r>
            <a:r>
              <a:rPr sz="1600" dirty="0" err="1"/>
              <a:t>bbox_y</a:t>
            </a:r>
            <a:r>
              <a:rPr sz="1600" dirty="0"/>
              <a:t>, </a:t>
            </a:r>
            <a:r>
              <a:rPr sz="1600" dirty="0" err="1"/>
              <a:t>bbox_w</a:t>
            </a:r>
            <a:r>
              <a:rPr sz="1600" dirty="0"/>
              <a:t>, </a:t>
            </a:r>
            <a:r>
              <a:rPr sz="1600" dirty="0" err="1"/>
              <a:t>bbox_h</a:t>
            </a:r>
            <a:r>
              <a:rPr sz="1600" dirty="0"/>
              <a:t>) with detection confidence scores (0.00 – 1.00).</a:t>
            </a:r>
          </a:p>
          <a:p>
            <a:r>
              <a:rPr sz="1600" dirty="0"/>
              <a:t>• Automatic Compliance Tagging:</a:t>
            </a:r>
          </a:p>
          <a:p>
            <a:pPr marL="285750" indent="-285750">
              <a:buFont typeface="Arial" panose="020B0604020202020204" pitchFamily="34" charset="0"/>
              <a:buChar char="•"/>
              <a:defRPr sz="1100">
                <a:solidFill>
                  <a:srgbClr val="0F172A"/>
                </a:solidFill>
              </a:defRPr>
            </a:pPr>
            <a:r>
              <a:rPr sz="1600" dirty="0"/>
              <a:t>Evaluates detected objects per photo; flags overall photo as 'compliant' or '</a:t>
            </a:r>
            <a:r>
              <a:rPr sz="1600" dirty="0" err="1"/>
              <a:t>issue_detected</a:t>
            </a:r>
            <a:r>
              <a:rPr sz="1600" dirty="0"/>
              <a:t>' in under 100ms.</a:t>
            </a:r>
          </a:p>
          <a:p>
            <a:r>
              <a:rPr sz="1600" dirty="0"/>
              <a:t>• Interactive Canvas Overlay:</a:t>
            </a:r>
          </a:p>
          <a:p>
            <a:pPr marL="285750" indent="-285750">
              <a:buFont typeface="Arial" panose="020B0604020202020204" pitchFamily="34" charset="0"/>
              <a:buChar char="•"/>
              <a:defRPr sz="1100">
                <a:solidFill>
                  <a:srgbClr val="0F172A"/>
                </a:solidFill>
              </a:defRPr>
            </a:pPr>
            <a:r>
              <a:rPr sz="1600" dirty="0"/>
              <a:t>Frontend dynamically renders colored bounding boxes with confidence tooltips over site photos.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005840"/>
            <a:ext cx="5760720" cy="5486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tlCol="0" anchor="ctr"/>
          <a:lstStyle/>
          <a:p>
            <a:pPr algn="ctr">
              <a:defRPr sz="1500" b="1">
                <a:solidFill>
                  <a:srgbClr val="B91C1C"/>
                </a:solidFill>
              </a:defRPr>
            </a:pPr>
            <a:r>
              <a:rPr sz="1600" dirty="0"/>
              <a:t>🤖 Grounded GenAI &amp; RAG Architecture: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600" dirty="0"/>
              <a:t>• Retrieval-Augmented Generation (RAG):</a:t>
            </a:r>
          </a:p>
          <a:p>
            <a:pPr marL="285750" indent="-285750">
              <a:buFont typeface="Arial" panose="020B0604020202020204" pitchFamily="34" charset="0"/>
              <a:buChar char="•"/>
              <a:defRPr sz="1100">
                <a:solidFill>
                  <a:srgbClr val="0F172A"/>
                </a:solidFill>
              </a:defRPr>
            </a:pPr>
            <a:r>
              <a:rPr sz="1600" dirty="0"/>
              <a:t>Connects user queries directly to active database records (reports, site areas, inspection logs, and YOLO detections).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600" dirty="0"/>
              <a:t>• Strict Factual Grounding:</a:t>
            </a:r>
          </a:p>
          <a:p>
            <a:pPr marL="285750" indent="-285750">
              <a:buFont typeface="Arial" panose="020B0604020202020204" pitchFamily="34" charset="0"/>
              <a:buChar char="•"/>
              <a:defRPr sz="1100">
                <a:solidFill>
                  <a:srgbClr val="0F172A"/>
                </a:solidFill>
              </a:defRPr>
            </a:pPr>
            <a:r>
              <a:rPr sz="1600" dirty="0"/>
              <a:t>GenAI prompt strictly forbids answering beyond provided project data, preventing generic chatbot hallucinations.</a:t>
            </a:r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Citation Badges:</a:t>
            </a:r>
          </a:p>
          <a:p>
            <a:pPr marL="285750" indent="-285750">
              <a:buFont typeface="Arial" panose="020B0604020202020204" pitchFamily="34" charset="0"/>
              <a:buChar char="•"/>
              <a:defRPr sz="1100">
                <a:solidFill>
                  <a:srgbClr val="0F172A"/>
                </a:solidFill>
              </a:defRPr>
            </a:pPr>
            <a:r>
              <a:rPr sz="1600" dirty="0"/>
              <a:t>Citations are formatted as [Report #id], which the UI renders as clickable buttons opening full report modals with photos.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600" dirty="0"/>
              <a:t>• Deterministic Local Synthesis Engine:</a:t>
            </a:r>
          </a:p>
          <a:p>
            <a:pPr marL="285750" indent="-285750">
              <a:buFont typeface="Arial" panose="020B0604020202020204" pitchFamily="34" charset="0"/>
              <a:buChar char="•"/>
              <a:defRPr sz="1100">
                <a:solidFill>
                  <a:srgbClr val="0F172A"/>
                </a:solidFill>
              </a:defRPr>
            </a:pPr>
            <a:r>
              <a:rPr sz="1600" dirty="0"/>
              <a:t>Fallback engine provides structured responses even if external LLM APIs (OpenAI/Gemini) are offline or unconfigured.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600" dirty="0"/>
              <a:t>• Core Evaluation Queries Supported:</a:t>
            </a:r>
          </a:p>
          <a:p>
            <a:pPr marL="285750" indent="-285750">
              <a:buFont typeface="Arial" panose="020B0604020202020204" pitchFamily="34" charset="0"/>
              <a:buChar char="•"/>
              <a:defRPr sz="1100">
                <a:solidFill>
                  <a:srgbClr val="0F172A"/>
                </a:solidFill>
              </a:defRPr>
            </a:pPr>
            <a:r>
              <a:rPr sz="1600" dirty="0"/>
              <a:t>1. 'Summarize the problems reported this week.'</a:t>
            </a:r>
            <a:br>
              <a:rPr sz="1600" dirty="0"/>
            </a:br>
            <a:r>
              <a:rPr sz="1600" dirty="0"/>
              <a:t>2. 'What safety issues were found in Area B?'</a:t>
            </a:r>
            <a:br>
              <a:rPr sz="1600" dirty="0"/>
            </a:br>
            <a:r>
              <a:rPr sz="1600" dirty="0"/>
              <a:t>3. 'Which issues have occurred repeatedly?'</a:t>
            </a:r>
            <a:br>
              <a:rPr sz="1600" dirty="0"/>
            </a:br>
            <a:r>
              <a:rPr sz="1600" dirty="0"/>
              <a:t>4. 'Generate a weekly site progress report.'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7">
            <a:extLst>
              <a:ext uri="{FF2B5EF4-FFF2-40B4-BE49-F238E27FC236}">
                <a16:creationId xmlns:a16="http://schemas.microsoft.com/office/drawing/2014/main" id="{8BB634CA-2502-1CD4-0D3C-2D3B740C8C97}"/>
              </a:ext>
            </a:extLst>
          </p:cNvPr>
          <p:cNvSpPr/>
          <p:nvPr/>
        </p:nvSpPr>
        <p:spPr>
          <a:xfrm>
            <a:off x="6035040" y="1005840"/>
            <a:ext cx="5760720" cy="3657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endParaRPr lang="en-IN" dirty="0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B91C1C"/>
                </a:solidFill>
                <a:latin typeface="Segoe UI"/>
              </a:defRPr>
            </a:pPr>
            <a:r>
              <a:t>🦺 SITESENSE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51760" y="73152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300" b="1">
                <a:solidFill>
                  <a:srgbClr val="B91C1C"/>
                </a:solidFill>
                <a:latin typeface="Segoe UI"/>
              </a:defRPr>
            </a:pPr>
            <a:r>
              <a:t>Unique Features &amp; Impact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822960"/>
            <a:ext cx="11460175" cy="228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65760" y="1005840"/>
            <a:ext cx="5486400" cy="3657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rPr sz="1600" dirty="0"/>
              <a:t>Impact on Stakeholders:</a:t>
            </a:r>
          </a:p>
          <a:p>
            <a:pPr>
              <a:spcBef>
                <a:spcPts val="500"/>
              </a:spcBef>
              <a:defRPr sz="1150" b="1">
                <a:solidFill>
                  <a:srgbClr val="B91C1C"/>
                </a:solidFill>
              </a:defRPr>
            </a:pPr>
            <a:r>
              <a:rPr sz="1600" dirty="0"/>
              <a:t>• Impact on Site Supervisors: </a:t>
            </a:r>
            <a:r>
              <a:rPr sz="1600" b="0" dirty="0">
                <a:solidFill>
                  <a:srgbClr val="0F172A"/>
                </a:solidFill>
              </a:rPr>
              <a:t>Eliminates end-of-day paperwork. Instant field logging with auto YOLO PPE tagging.</a:t>
            </a:r>
          </a:p>
          <a:p>
            <a:pPr>
              <a:spcBef>
                <a:spcPts val="500"/>
              </a:spcBef>
              <a:defRPr sz="1150" b="1">
                <a:solidFill>
                  <a:srgbClr val="B91C1C"/>
                </a:solidFill>
              </a:defRPr>
            </a:pPr>
            <a:r>
              <a:rPr sz="1600" dirty="0"/>
              <a:t>• Impact on Safety Officers: </a:t>
            </a:r>
            <a:r>
              <a:rPr sz="1600" b="0" dirty="0">
                <a:solidFill>
                  <a:srgbClr val="0F172A"/>
                </a:solidFill>
              </a:rPr>
              <a:t>Automated recurring hazard alerts highlight high-risk elevation scaffolding &amp; hoist gates.</a:t>
            </a:r>
          </a:p>
          <a:p>
            <a:pPr>
              <a:spcBef>
                <a:spcPts val="500"/>
              </a:spcBef>
              <a:defRPr sz="1150" b="1">
                <a:solidFill>
                  <a:srgbClr val="B91C1C"/>
                </a:solidFill>
              </a:defRPr>
            </a:pPr>
            <a:r>
              <a:rPr sz="1600" dirty="0"/>
              <a:t>• Impact on General Contractors: </a:t>
            </a:r>
            <a:r>
              <a:rPr sz="1600" b="0" dirty="0">
                <a:solidFill>
                  <a:srgbClr val="0F172A"/>
                </a:solidFill>
              </a:rPr>
              <a:t>Real-time multi-zone visibility prevents subcontractor delays and regulatory shutdown fines.</a:t>
            </a:r>
          </a:p>
          <a:p>
            <a:pPr>
              <a:spcBef>
                <a:spcPts val="500"/>
              </a:spcBef>
              <a:defRPr sz="1150" b="1">
                <a:solidFill>
                  <a:srgbClr val="B91C1C"/>
                </a:solidFill>
              </a:defRPr>
            </a:pPr>
            <a:r>
              <a:rPr sz="1600" dirty="0"/>
              <a:t>• Impact on Project Directors: </a:t>
            </a:r>
            <a:r>
              <a:rPr sz="1600" b="0" dirty="0">
                <a:solidFill>
                  <a:srgbClr val="0F172A"/>
                </a:solidFill>
              </a:rPr>
              <a:t>Consolidated executive dashboards and 1-click GenAI progress reports across all project sites.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394960" cy="8229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>
              <a:defRPr sz="1150" b="1">
                <a:solidFill>
                  <a:srgbClr val="1E3A8A"/>
                </a:solidFill>
              </a:defRPr>
            </a:pPr>
            <a:r>
              <a:rPr sz="1600" dirty="0"/>
              <a:t>Automated PPE Compliance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rPr sz="1600" dirty="0"/>
              <a:t>Real-time AI vision replaces error-prone manual walk-throughs.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423160"/>
            <a:ext cx="5394960" cy="8229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>
              <a:defRPr sz="1150" b="1">
                <a:solidFill>
                  <a:srgbClr val="1E3A8A"/>
                </a:solidFill>
              </a:defRPr>
            </a:pPr>
            <a:r>
              <a:rPr sz="1600" dirty="0"/>
              <a:t>Proactive Hazard </a:t>
            </a:r>
            <a:r>
              <a:rPr sz="1600" dirty="0" err="1"/>
              <a:t>Hotspotting</a:t>
            </a:r>
            <a:endParaRPr sz="1600" dirty="0"/>
          </a:p>
          <a:p>
            <a:pPr>
              <a:defRPr sz="1050">
                <a:solidFill>
                  <a:srgbClr val="475569"/>
                </a:solidFill>
              </a:defRPr>
            </a:pPr>
            <a:r>
              <a:rPr sz="1600" dirty="0"/>
              <a:t>Identifies repeat violations (e.g. Area B scaffolding) before accidents happen.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383280"/>
            <a:ext cx="5394960" cy="8229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>
              <a:defRPr sz="1150" b="1">
                <a:solidFill>
                  <a:srgbClr val="1E3A8A"/>
                </a:solidFill>
              </a:defRPr>
            </a:pPr>
            <a:r>
              <a:rPr sz="1600" dirty="0"/>
              <a:t>100% Grounded Intelligence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rPr sz="1600" dirty="0"/>
              <a:t>Every AI answer links to verified inspection records with interactive citations.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4754879"/>
            <a:ext cx="11430000" cy="1856473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tlCol="0" anchor="ctr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rPr sz="1600" dirty="0"/>
              <a:t>Performance Standards &amp; Reliability:</a:t>
            </a:r>
          </a:p>
          <a:p>
            <a:pPr>
              <a:spcBef>
                <a:spcPts val="200"/>
              </a:spcBef>
              <a:defRPr sz="1100" b="1">
                <a:solidFill>
                  <a:srgbClr val="B91C1C"/>
                </a:solidFill>
              </a:defRPr>
            </a:pPr>
            <a:r>
              <a:rPr sz="1600" dirty="0"/>
              <a:t>• Real-time YOLOv8 Inference (&lt;100ms): </a:t>
            </a:r>
            <a:r>
              <a:rPr sz="1600" b="0" dirty="0">
                <a:solidFill>
                  <a:srgbClr val="0F172A"/>
                </a:solidFill>
              </a:rPr>
              <a:t>YOLOv8 </a:t>
            </a:r>
            <a:r>
              <a:rPr sz="1600" b="0" dirty="0" err="1">
                <a:solidFill>
                  <a:srgbClr val="0F172A"/>
                </a:solidFill>
              </a:rPr>
              <a:t>PyTorch</a:t>
            </a:r>
            <a:r>
              <a:rPr sz="1600" b="0" dirty="0">
                <a:solidFill>
                  <a:srgbClr val="0F172A"/>
                </a:solidFill>
              </a:rPr>
              <a:t> model processes and bounds multi-worker site photos in under 100 milliseconds.</a:t>
            </a:r>
          </a:p>
          <a:p>
            <a:pPr>
              <a:spcBef>
                <a:spcPts val="200"/>
              </a:spcBef>
              <a:defRPr sz="1100" b="1">
                <a:solidFill>
                  <a:srgbClr val="B91C1C"/>
                </a:solidFill>
              </a:defRPr>
            </a:pPr>
            <a:r>
              <a:rPr sz="1600" dirty="0"/>
              <a:t>• Sub-second Query Retrieval (&lt;200ms): </a:t>
            </a:r>
            <a:r>
              <a:rPr sz="1600" b="0" dirty="0">
                <a:solidFill>
                  <a:srgbClr val="0F172A"/>
                </a:solidFill>
              </a:rPr>
              <a:t>Async </a:t>
            </a:r>
            <a:r>
              <a:rPr sz="1600" b="0" dirty="0" err="1">
                <a:solidFill>
                  <a:srgbClr val="0F172A"/>
                </a:solidFill>
              </a:rPr>
              <a:t>SQLAlchemy</a:t>
            </a:r>
            <a:r>
              <a:rPr sz="1600" b="0" dirty="0">
                <a:solidFill>
                  <a:srgbClr val="0F172A"/>
                </a:solidFill>
              </a:rPr>
              <a:t> indexed queries return search and filter results in under 200ms for 95% of requests.</a:t>
            </a:r>
          </a:p>
          <a:p>
            <a:pPr>
              <a:spcBef>
                <a:spcPts val="200"/>
              </a:spcBef>
              <a:defRPr sz="1100" b="1">
                <a:solidFill>
                  <a:srgbClr val="B91C1C"/>
                </a:solidFill>
              </a:defRPr>
            </a:pPr>
            <a:r>
              <a:rPr sz="1600" dirty="0"/>
              <a:t>• High Availability (99.9% Uptime): </a:t>
            </a:r>
            <a:r>
              <a:rPr sz="1600" b="0" dirty="0">
                <a:solidFill>
                  <a:srgbClr val="0F172A"/>
                </a:solidFill>
              </a:rPr>
              <a:t>Dual-engine design guarantees continuous operational answers with local fallback even if external APIs are down.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C9EF083-ECBF-4A23-693C-A1526184EF1D}"/>
              </a:ext>
            </a:extLst>
          </p:cNvPr>
          <p:cNvSpPr txBox="1"/>
          <p:nvPr/>
        </p:nvSpPr>
        <p:spPr>
          <a:xfrm>
            <a:off x="7362700" y="1086683"/>
            <a:ext cx="32130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rPr lang="en-IN"/>
              <a:t>Benefits &amp; Key Differentiators:</a:t>
            </a:r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B91C1C"/>
                </a:solidFill>
                <a:latin typeface="Segoe UI"/>
              </a:defRPr>
            </a:pPr>
            <a:r>
              <a:t>🦺 SITESENSE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51760" y="73152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300" b="1">
                <a:solidFill>
                  <a:srgbClr val="B91C1C"/>
                </a:solidFill>
                <a:latin typeface="Segoe UI"/>
              </a:defRPr>
            </a:pPr>
            <a:r>
              <a:t>Additional Features, Future Scope &amp; References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822960"/>
            <a:ext cx="11460175" cy="228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96240" y="1012698"/>
            <a:ext cx="5486400" cy="346786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rPr sz="1600" dirty="0"/>
              <a:t>Additional Features Built in </a:t>
            </a:r>
            <a:r>
              <a:rPr sz="1600" dirty="0" err="1"/>
              <a:t>SiteSense</a:t>
            </a:r>
            <a:r>
              <a:rPr sz="1600" dirty="0"/>
              <a:t>:</a:t>
            </a:r>
          </a:p>
          <a:p>
            <a:pPr>
              <a:spcBef>
                <a:spcPts val="400"/>
              </a:spcBef>
              <a:defRPr sz="1100" b="1">
                <a:solidFill>
                  <a:srgbClr val="B91C1C"/>
                </a:solidFill>
              </a:defRPr>
            </a:pPr>
            <a:r>
              <a:rPr sz="1600" dirty="0"/>
              <a:t>• 1-Click Demo Role Switcher: </a:t>
            </a:r>
            <a:r>
              <a:rPr sz="1600" b="0" dirty="0">
                <a:solidFill>
                  <a:srgbClr val="0F172A"/>
                </a:solidFill>
              </a:rPr>
              <a:t>Instant role switching between Admin, Supervisor, Safety Officer, and Contractor for seamless evaluations.</a:t>
            </a:r>
          </a:p>
          <a:p>
            <a:pPr>
              <a:spcBef>
                <a:spcPts val="400"/>
              </a:spcBef>
              <a:defRPr sz="1100" b="1">
                <a:solidFill>
                  <a:srgbClr val="B91C1C"/>
                </a:solidFill>
              </a:defRPr>
            </a:pPr>
            <a:r>
              <a:rPr sz="1600" dirty="0"/>
              <a:t>• Multi-Filter Boolean Search: </a:t>
            </a:r>
            <a:r>
              <a:rPr sz="1600" b="0" dirty="0">
                <a:solidFill>
                  <a:srgbClr val="0F172A"/>
                </a:solidFill>
              </a:rPr>
              <a:t>Search logs across keywords, date ranges, site zones, inspection types, and AI violation flags.</a:t>
            </a:r>
          </a:p>
          <a:p>
            <a:pPr>
              <a:spcBef>
                <a:spcPts val="400"/>
              </a:spcBef>
              <a:defRPr sz="1100" b="1">
                <a:solidFill>
                  <a:srgbClr val="B91C1C"/>
                </a:solidFill>
              </a:defRPr>
            </a:pPr>
            <a:r>
              <a:rPr sz="1600" dirty="0"/>
              <a:t>• Live Safety KPI Telemetry: </a:t>
            </a:r>
            <a:r>
              <a:rPr sz="1600" b="0" dirty="0">
                <a:solidFill>
                  <a:srgbClr val="0F172A"/>
                </a:solidFill>
              </a:rPr>
              <a:t>Real-time compliance gauges, weekly issue tracking, and recurring risk hotspot alerts.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7239" y="4640580"/>
            <a:ext cx="11521440" cy="22174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rPr sz="1600" dirty="0"/>
              <a:t>Future Scope &amp; Expansion Roadmap:</a:t>
            </a:r>
          </a:p>
          <a:p>
            <a:pPr>
              <a:spcBef>
                <a:spcPts val="300"/>
              </a:spcBef>
              <a:defRPr sz="1050" b="1">
                <a:solidFill>
                  <a:srgbClr val="1E3A8A"/>
                </a:solidFill>
              </a:defRPr>
            </a:pPr>
            <a:r>
              <a:rPr sz="1600" dirty="0"/>
              <a:t>• 24/7 CCTV / RTSP Stream Ingestion: </a:t>
            </a:r>
            <a:r>
              <a:rPr sz="1600" b="0" dirty="0">
                <a:solidFill>
                  <a:srgbClr val="475569"/>
                </a:solidFill>
              </a:rPr>
              <a:t>Automated edge processing of live video streams for continuous perimeter &amp; PPE auditing.</a:t>
            </a:r>
          </a:p>
          <a:p>
            <a:pPr>
              <a:spcBef>
                <a:spcPts val="300"/>
              </a:spcBef>
              <a:defRPr sz="1050" b="1">
                <a:solidFill>
                  <a:srgbClr val="1E3A8A"/>
                </a:solidFill>
              </a:defRPr>
            </a:pPr>
            <a:r>
              <a:rPr sz="1600" dirty="0"/>
              <a:t>• Drone Photogrammetry &amp; 3D BIM Mapping: </a:t>
            </a:r>
            <a:r>
              <a:rPr sz="1600" b="0" dirty="0">
                <a:solidFill>
                  <a:srgbClr val="475569"/>
                </a:solidFill>
              </a:rPr>
              <a:t>Projecting visual hazard markers directly onto 3D building information models.</a:t>
            </a:r>
          </a:p>
          <a:p>
            <a:pPr>
              <a:spcBef>
                <a:spcPts val="300"/>
              </a:spcBef>
              <a:defRPr sz="1050" b="1">
                <a:solidFill>
                  <a:srgbClr val="1E3A8A"/>
                </a:solidFill>
              </a:defRPr>
            </a:pPr>
            <a:r>
              <a:rPr sz="1600" dirty="0"/>
              <a:t>• Predictive Schedule Delay Modeling: </a:t>
            </a:r>
            <a:r>
              <a:rPr sz="1600" b="0" dirty="0">
                <a:solidFill>
                  <a:srgbClr val="475569"/>
                </a:solidFill>
              </a:rPr>
              <a:t>Correlating repeat safety infractions with trade contractor delivery bottlenecks.</a:t>
            </a:r>
          </a:p>
          <a:p>
            <a:pPr>
              <a:spcBef>
                <a:spcPts val="300"/>
              </a:spcBef>
              <a:defRPr sz="1050" b="1">
                <a:solidFill>
                  <a:srgbClr val="1E3A8A"/>
                </a:solidFill>
              </a:defRPr>
            </a:pPr>
            <a:r>
              <a:rPr sz="1600" dirty="0"/>
              <a:t>• Offline Edge Mobile App: </a:t>
            </a:r>
            <a:r>
              <a:rPr sz="1600" b="0" dirty="0">
                <a:solidFill>
                  <a:srgbClr val="475569"/>
                </a:solidFill>
              </a:rPr>
              <a:t>Local SQLite sync enabling field staff to log reports in sub-grade basements with zero connectivity.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005840"/>
            <a:ext cx="5760720" cy="3474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rPr sz="1600" dirty="0"/>
              <a:t>Literature Survey &amp; References:</a:t>
            </a:r>
          </a:p>
          <a:p>
            <a:pPr>
              <a:spcBef>
                <a:spcPts val="400"/>
              </a:spcBef>
              <a:defRPr sz="1050" b="1">
                <a:solidFill>
                  <a:srgbClr val="B91C1C"/>
                </a:solidFill>
              </a:defRPr>
            </a:pPr>
            <a:r>
              <a:rPr sz="1600" dirty="0"/>
              <a:t>• [1] OSHA Occupational Safety Standards (2024): </a:t>
            </a:r>
            <a:r>
              <a:rPr sz="1600" b="0" dirty="0">
                <a:solidFill>
                  <a:srgbClr val="0F172A"/>
                </a:solidFill>
              </a:rPr>
              <a:t>Personal Protective Equipment standards (29 CFR 1926.100 &amp; 1926.201) in high-risk construction sectors.</a:t>
            </a:r>
          </a:p>
          <a:p>
            <a:pPr>
              <a:spcBef>
                <a:spcPts val="400"/>
              </a:spcBef>
              <a:defRPr sz="1050" b="1">
                <a:solidFill>
                  <a:srgbClr val="B91C1C"/>
                </a:solidFill>
              </a:defRPr>
            </a:pPr>
            <a:r>
              <a:rPr sz="1600" dirty="0"/>
              <a:t>• [2] Redmon et al., You Only Look Once (YOLO): </a:t>
            </a:r>
            <a:r>
              <a:rPr sz="1600" b="0" dirty="0">
                <a:solidFill>
                  <a:srgbClr val="0F172A"/>
                </a:solidFill>
              </a:rPr>
              <a:t>Unified real-time object detection models for edge vision and automated safety compliance.</a:t>
            </a:r>
          </a:p>
          <a:p>
            <a:pPr>
              <a:spcBef>
                <a:spcPts val="400"/>
              </a:spcBef>
              <a:defRPr sz="1050" b="1">
                <a:solidFill>
                  <a:srgbClr val="B91C1C"/>
                </a:solidFill>
              </a:defRPr>
            </a:pPr>
            <a:r>
              <a:rPr sz="1600" dirty="0"/>
              <a:t>• [3] Lewis et al., Retrieval-Augmented Generation (RAG): </a:t>
            </a:r>
            <a:r>
              <a:rPr sz="1600" b="0" dirty="0">
                <a:solidFill>
                  <a:srgbClr val="0F172A"/>
                </a:solidFill>
              </a:rPr>
              <a:t>Knowledge-intensive NLP for grounded, verifiable enterprise question answering without hallucination.</a:t>
            </a:r>
          </a:p>
          <a:p>
            <a:pPr>
              <a:spcBef>
                <a:spcPts val="400"/>
              </a:spcBef>
              <a:defRPr sz="1050" b="1">
                <a:solidFill>
                  <a:srgbClr val="B91C1C"/>
                </a:solidFill>
              </a:defRPr>
            </a:pPr>
            <a:r>
              <a:rPr sz="1600" dirty="0"/>
              <a:t>• [4] Construction Industry Safety Reports: </a:t>
            </a:r>
            <a:r>
              <a:rPr sz="1600" b="0" dirty="0">
                <a:solidFill>
                  <a:srgbClr val="0F172A"/>
                </a:solidFill>
              </a:rPr>
              <a:t>Over 21% of worker fatalities are preventable through strict PPE enforcement and automated hazard trend monitoring.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1403</Words>
  <Application>Microsoft Office PowerPoint</Application>
  <PresentationFormat>Widescreen</PresentationFormat>
  <Paragraphs>130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Prem Vibhute</cp:lastModifiedBy>
  <cp:revision>4</cp:revision>
  <dcterms:created xsi:type="dcterms:W3CDTF">2013-01-27T09:14:16Z</dcterms:created>
  <dcterms:modified xsi:type="dcterms:W3CDTF">2026-09-14T18:47:11Z</dcterms:modified>
  <cp:category/>
</cp:coreProperties>
</file>